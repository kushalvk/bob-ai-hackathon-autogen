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2" r:id="rId7"/>
    <p:sldId id="261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02E1-4589-A13D-0171-3D5241160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C12C8-8833-3A30-6589-FC43AF182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AE0C3-500F-9845-5CA0-27D6811B0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D2BB8-5D0D-DDFF-F572-532748F2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94EA-2290-A938-5674-EA3907556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25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DD213-8842-9807-7875-E628CAF18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A8ED5-DE22-585C-39ED-BF64647F2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48090-9F13-9A8A-6007-56AB6AAA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74CA7-343E-13EE-E823-1CE2B4C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A362-C3CA-7557-3C66-F8CA74AD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8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B9F9-E7F9-B63D-2036-72380515C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CD4A5-963E-64A3-5198-0AC7D86C2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4CCB2-F202-2A58-7BE2-932C1DD5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C270E-379C-52E0-77E5-6B610420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B9B58-4E11-E257-A31D-D047218A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004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54BF4-ED28-6665-EC9B-812F5AFA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997F5-2151-1E79-73BB-0557198D5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AF9C2-468B-0781-31A9-8EE08069A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98ED1-6551-530E-20DA-09406119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A3FDD-5005-6093-2AD5-2BD97DDB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257C6-7B25-B05D-22FF-22689BFA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2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5366-A12E-94C2-6CD6-B7CC6B7F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0A0D8-1CF7-784A-7AA2-74CBA40FC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95E21-E45E-3590-7003-1DBB1EE34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D04FD-01C4-66ED-AD9C-4A2F7796D9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518DF-7241-5E20-C468-20D516BD1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423749-7B4D-9D62-3B0B-FD2EF2DC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E0CE7-CD57-D05B-EE32-00887FF5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4AAA79-D205-6A5C-E12F-F9EEA41B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98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FC1C2-9EA6-958F-DA8E-B5EF73A8F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A3602-08EF-9C66-771E-19F490807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ABEB74-F1A4-8FB5-72C0-154749995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1E646-BC7B-FD15-0F8C-E88BA525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39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CF58E1-F0A0-5B7B-26F3-AB7168BF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31488-2089-A2C0-B9FC-8BC7E152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D09AF-81D0-1BE7-639F-BCBC6185B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2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12FD-2137-3DA5-D04B-4F3A58459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FB287-054B-ED85-2E33-644F3F52E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E45DE-8DE1-4225-4610-72D03A10D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4A30D-CC12-B840-4F3A-EB849F89C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85E44-EFD6-D241-6225-9665E6BD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1A4C1-7214-51A0-DFB6-399A013B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79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1A067-4314-84EA-1554-F554D286B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9F3839-1221-3983-BF57-B824BCD46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73D26-E4AA-23AC-5058-7F087CF32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AD287-05E1-C3B4-C63D-8F57A382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93AFA-DBE8-3B73-BE80-B5AB041D3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7EB7E-B24B-2357-776C-0E258CAA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412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F820-C6B8-3A80-CE47-9897D713F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22047-CFF9-2373-4FB8-D4B576A6E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DE915-0804-BFAC-D52D-87D1BE57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6F351-73BB-C472-04A9-5E8237CB6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90884-EECB-3A59-5350-D357DFC0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17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96ED23-CA5B-8F39-CC11-29F037FD58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1011B-1166-2E9A-4784-6DE97D426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F7600-CA19-0C31-8B16-6D35F0A0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7D6A5-CC39-20C1-0315-0C99C35B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20C5E-2E59-51B7-E0C6-076DDB9D3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65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1F66C-C0CD-3423-DE2E-14E9BC5A0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662CB-C0E4-BAC5-E20E-E13BFE1E2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8540C-8750-E4E5-FD6F-44704710D3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44C6C-6340-4292-9334-7C93B12EE97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C25A3-3ED0-E116-7C0B-B4FDA2B1D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2B5F2-275E-CF91-E0D9-D74C48951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7885C-0F83-4791-9FC1-1866FAF8D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23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>
            <a:extLst>
              <a:ext uri="{FF2B5EF4-FFF2-40B4-BE49-F238E27FC236}">
                <a16:creationId xmlns:a16="http://schemas.microsoft.com/office/drawing/2014/main" id="{A0B6E527-45C0-7575-8F3C-85F79B648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" y="0"/>
            <a:ext cx="4571886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82749ED9-F4EC-4628-7616-EE6007A1592B}"/>
              </a:ext>
            </a:extLst>
          </p:cNvPr>
          <p:cNvSpPr/>
          <p:nvPr/>
        </p:nvSpPr>
        <p:spPr>
          <a:xfrm>
            <a:off x="5259458" y="96877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ClinGuard AI</a:t>
            </a:r>
            <a:endParaRPr lang="en-US" sz="37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958AE7E-3E75-5D5D-B9BE-46B575FB15A5}"/>
              </a:ext>
            </a:extLst>
          </p:cNvPr>
          <p:cNvSpPr/>
          <p:nvPr/>
        </p:nvSpPr>
        <p:spPr>
          <a:xfrm>
            <a:off x="5259458" y="1842889"/>
            <a:ext cx="6296860" cy="244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Autonomous Clinical Trial Protocol Compliance</a:t>
            </a:r>
            <a:endParaRPr lang="en-US" sz="51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062BA05-5B38-2282-E642-275E11121E19}"/>
              </a:ext>
            </a:extLst>
          </p:cNvPr>
          <p:cNvSpPr/>
          <p:nvPr/>
        </p:nvSpPr>
        <p:spPr>
          <a:xfrm>
            <a:off x="5259458" y="457190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Deterministic Risk Scoring &amp; Automated CAPA Generation</a:t>
            </a:r>
            <a:endParaRPr lang="en-US" sz="145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68B7DE3-7303-0622-4148-477AEE7155DC}"/>
              </a:ext>
            </a:extLst>
          </p:cNvPr>
          <p:cNvSpPr/>
          <p:nvPr/>
        </p:nvSpPr>
        <p:spPr>
          <a:xfrm>
            <a:off x="5259458" y="5086945"/>
            <a:ext cx="1424746" cy="287139"/>
          </a:xfrm>
          <a:prstGeom prst="roundRect">
            <a:avLst>
              <a:gd name="adj" fmla="val 22118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9E8F2AF-C81A-5B1F-840F-9B63589055A0}"/>
              </a:ext>
            </a:extLst>
          </p:cNvPr>
          <p:cNvSpPr/>
          <p:nvPr/>
        </p:nvSpPr>
        <p:spPr>
          <a:xfrm>
            <a:off x="5372863" y="5143599"/>
            <a:ext cx="18075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TEAM AUTOGEN</a:t>
            </a:r>
            <a:endParaRPr lang="en-US" sz="11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C4A400D-8553-87B6-9F9E-A556515F3DA3}"/>
              </a:ext>
            </a:extLst>
          </p:cNvPr>
          <p:cNvSpPr/>
          <p:nvPr/>
        </p:nvSpPr>
        <p:spPr>
          <a:xfrm>
            <a:off x="6778658" y="5086945"/>
            <a:ext cx="95733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A3A16BE-BE84-C720-A1A3-93716914DA4B}"/>
              </a:ext>
            </a:extLst>
          </p:cNvPr>
          <p:cNvSpPr/>
          <p:nvPr/>
        </p:nvSpPr>
        <p:spPr>
          <a:xfrm>
            <a:off x="6892062" y="5143599"/>
            <a:ext cx="13401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TRACK: AI</a:t>
            </a:r>
            <a:endParaRPr lang="en-US" sz="11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88F1924-B935-7A32-4E45-F3C3C197161B}"/>
              </a:ext>
            </a:extLst>
          </p:cNvPr>
          <p:cNvSpPr/>
          <p:nvPr/>
        </p:nvSpPr>
        <p:spPr>
          <a:xfrm>
            <a:off x="7830450" y="5086945"/>
            <a:ext cx="183599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5E4C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B9430DA-FF0F-48AD-CE0B-031DD1E64C11}"/>
              </a:ext>
            </a:extLst>
          </p:cNvPr>
          <p:cNvSpPr/>
          <p:nvPr/>
        </p:nvSpPr>
        <p:spPr>
          <a:xfrm>
            <a:off x="7943854" y="5143599"/>
            <a:ext cx="221877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E4CE6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IBM BOB HACKATHON</a:t>
            </a:r>
            <a:endParaRPr lang="en-US" sz="11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9338A1C-5829-477E-ECBE-A0EB62E4D566}"/>
              </a:ext>
            </a:extLst>
          </p:cNvPr>
          <p:cNvSpPr/>
          <p:nvPr/>
        </p:nvSpPr>
        <p:spPr>
          <a:xfrm>
            <a:off x="5259458" y="558671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Kushal Vaghela (Lead) · Jemeet Shahi · Raj Panchigar · Darsh Boghara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7785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4F128-B648-E64A-A121-B281435B2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B5AF2525-A4A9-C012-3CBB-F7FC1A269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224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AF29DA5-6A40-7229-859D-342A26FF030E}"/>
              </a:ext>
            </a:extLst>
          </p:cNvPr>
          <p:cNvSpPr/>
          <p:nvPr/>
        </p:nvSpPr>
        <p:spPr>
          <a:xfrm>
            <a:off x="330890" y="523478"/>
            <a:ext cx="6296860" cy="775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Problem: Undetected Deviations Cost Millions</a:t>
            </a:r>
            <a:endParaRPr lang="en-US" sz="2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ADB7188-5153-B966-DB51-3AF0EE311D14}"/>
              </a:ext>
            </a:extLst>
          </p:cNvPr>
          <p:cNvSpPr/>
          <p:nvPr/>
        </p:nvSpPr>
        <p:spPr>
          <a:xfrm>
            <a:off x="330890" y="1482824"/>
            <a:ext cx="6296860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5K+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BD0BE43-1408-1902-8F16-CDCFA5315291}"/>
              </a:ext>
            </a:extLst>
          </p:cNvPr>
          <p:cNvSpPr/>
          <p:nvPr/>
        </p:nvSpPr>
        <p:spPr>
          <a:xfrm>
            <a:off x="330890" y="2015232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Patient Visits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58F11E2-02E8-1475-243B-444D1B0A0696}"/>
              </a:ext>
            </a:extLst>
          </p:cNvPr>
          <p:cNvSpPr/>
          <p:nvPr/>
        </p:nvSpPr>
        <p:spPr>
          <a:xfrm>
            <a:off x="330890" y="2257822"/>
            <a:ext cx="629686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Across a single major Phase II/III trial</a:t>
            </a:r>
            <a:endParaRPr lang="en-US" sz="9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FA2579E-D960-457B-451A-BFF0009AF356}"/>
              </a:ext>
            </a:extLst>
          </p:cNvPr>
          <p:cNvSpPr/>
          <p:nvPr/>
        </p:nvSpPr>
        <p:spPr>
          <a:xfrm>
            <a:off x="330890" y="2646859"/>
            <a:ext cx="6296860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200+</a:t>
            </a:r>
            <a:endParaRPr lang="en-US" sz="3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EDB16BA-31FB-E316-21EE-1D23DFF0AB49}"/>
              </a:ext>
            </a:extLst>
          </p:cNvPr>
          <p:cNvSpPr/>
          <p:nvPr/>
        </p:nvSpPr>
        <p:spPr>
          <a:xfrm>
            <a:off x="330890" y="3179266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Active Sites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893A206-0215-4671-4FCE-C5451379A27F}"/>
              </a:ext>
            </a:extLst>
          </p:cNvPr>
          <p:cNvSpPr/>
          <p:nvPr/>
        </p:nvSpPr>
        <p:spPr>
          <a:xfrm>
            <a:off x="330890" y="3421856"/>
            <a:ext cx="629686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real-time risk visibility for managers</a:t>
            </a:r>
            <a:endParaRPr lang="en-US" sz="9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A0868E7-8057-2BEA-95BD-3E35160C896B}"/>
              </a:ext>
            </a:extLst>
          </p:cNvPr>
          <p:cNvSpPr/>
          <p:nvPr/>
        </p:nvSpPr>
        <p:spPr>
          <a:xfrm>
            <a:off x="330890" y="3810893"/>
            <a:ext cx="6296860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$50–100M</a:t>
            </a:r>
            <a:endParaRPr lang="en-US" sz="3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5267945-C66C-B62B-BE56-94E66F77CB40}"/>
              </a:ext>
            </a:extLst>
          </p:cNvPr>
          <p:cNvSpPr/>
          <p:nvPr/>
        </p:nvSpPr>
        <p:spPr>
          <a:xfrm>
            <a:off x="330890" y="4343301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Cost of Delay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F50096B-98F5-AFCE-7727-BFAB683D7C73}"/>
              </a:ext>
            </a:extLst>
          </p:cNvPr>
          <p:cNvSpPr/>
          <p:nvPr/>
        </p:nvSpPr>
        <p:spPr>
          <a:xfrm>
            <a:off x="330890" y="4585891"/>
            <a:ext cx="629686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 FDA submission rejection</a:t>
            </a:r>
            <a:endParaRPr lang="en-US" sz="9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4AE16D4-853A-B259-CB20-F70F01E29D7A}"/>
              </a:ext>
            </a:extLst>
          </p:cNvPr>
          <p:cNvSpPr/>
          <p:nvPr/>
        </p:nvSpPr>
        <p:spPr>
          <a:xfrm>
            <a:off x="330890" y="4974927"/>
            <a:ext cx="6296860" cy="409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12mo</a:t>
            </a:r>
            <a:endParaRPr lang="en-US" sz="3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272E1E-9329-28E4-B221-B1B3727D61B6}"/>
              </a:ext>
            </a:extLst>
          </p:cNvPr>
          <p:cNvSpPr/>
          <p:nvPr/>
        </p:nvSpPr>
        <p:spPr>
          <a:xfrm>
            <a:off x="330890" y="5507335"/>
            <a:ext cx="6296860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Approval Delay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0A90AAD-F445-957D-A04F-DBD57F9D2C3D}"/>
              </a:ext>
            </a:extLst>
          </p:cNvPr>
          <p:cNvSpPr/>
          <p:nvPr/>
        </p:nvSpPr>
        <p:spPr>
          <a:xfrm>
            <a:off x="330890" y="5749925"/>
            <a:ext cx="629686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From a single rejected submission</a:t>
            </a:r>
            <a:endParaRPr lang="en-US" sz="9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CF881E6-F316-54F2-BF27-31CD53988FE2}"/>
              </a:ext>
            </a:extLst>
          </p:cNvPr>
          <p:cNvSpPr/>
          <p:nvPr/>
        </p:nvSpPr>
        <p:spPr>
          <a:xfrm>
            <a:off x="330890" y="6005810"/>
            <a:ext cx="629686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Protocol deviations — missed visits, wrong dosing, banned co-medications — go undetected until FDA audit. Risk managers lack real-time site-level visibility.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28509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F9DA-8543-1B01-1BFE-85AE7E06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11F9DD-708E-F57A-B638-3B6F9BD65094}"/>
              </a:ext>
            </a:extLst>
          </p:cNvPr>
          <p:cNvSpPr/>
          <p:nvPr/>
        </p:nvSpPr>
        <p:spPr>
          <a:xfrm>
            <a:off x="661627" y="628005"/>
            <a:ext cx="3473859" cy="273645"/>
          </a:xfrm>
          <a:prstGeom prst="roundRect">
            <a:avLst>
              <a:gd name="adj" fmla="val 22121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0C75CF-CC85-2B17-41B4-F10695A8FDDD}"/>
              </a:ext>
            </a:extLst>
          </p:cNvPr>
          <p:cNvSpPr/>
          <p:nvPr/>
        </p:nvSpPr>
        <p:spPr>
          <a:xfrm>
            <a:off x="769673" y="681980"/>
            <a:ext cx="3867351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IBM BOB HACKATHON · PROBLEM STATEMENT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7EBC0C-35A7-F6BB-D124-3A20EC321237}"/>
              </a:ext>
            </a:extLst>
          </p:cNvPr>
          <p:cNvSpPr/>
          <p:nvPr/>
        </p:nvSpPr>
        <p:spPr>
          <a:xfrm>
            <a:off x="661627" y="97031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The Challenge We Took On</a:t>
            </a:r>
            <a:endParaRPr lang="en-US" sz="3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525726E-0CB0-FCE5-5E0C-1DC60A9C2C06}"/>
              </a:ext>
            </a:extLst>
          </p:cNvPr>
          <p:cNvSpPr/>
          <p:nvPr/>
        </p:nvSpPr>
        <p:spPr>
          <a:xfrm>
            <a:off x="931793" y="1984127"/>
            <a:ext cx="10598579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Compare patient records against protocol specifications, classify deviations by ICH E6 GCP severity, score site-level risk, and generate CAPA-ready reports with mitigations.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938AE36-2637-2BFD-13F8-28B9A32446A4}"/>
              </a:ext>
            </a:extLst>
          </p:cNvPr>
          <p:cNvSpPr/>
          <p:nvPr/>
        </p:nvSpPr>
        <p:spPr>
          <a:xfrm>
            <a:off x="661627" y="1790948"/>
            <a:ext cx="25399" cy="949325"/>
          </a:xfrm>
          <a:prstGeom prst="roundRect">
            <a:avLst>
              <a:gd name="adj" fmla="val 50001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81B91855-5463-5377-0043-3CB653F8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27" y="2933452"/>
            <a:ext cx="5434373" cy="720626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F86B67C0-A097-B18F-72F7-536D488D6DBC}"/>
              </a:ext>
            </a:extLst>
          </p:cNvPr>
          <p:cNvSpPr/>
          <p:nvPr/>
        </p:nvSpPr>
        <p:spPr>
          <a:xfrm>
            <a:off x="841704" y="3825726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Detect</a:t>
            </a:r>
            <a:endParaRPr lang="en-US" sz="17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F0132F7-D056-BB96-EECE-BE4A92A1EF75}"/>
              </a:ext>
            </a:extLst>
          </p:cNvPr>
          <p:cNvSpPr/>
          <p:nvPr/>
        </p:nvSpPr>
        <p:spPr>
          <a:xfrm>
            <a:off x="841704" y="421019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Rule-based deviation identification across all patient records</a:t>
            </a:r>
            <a:endParaRPr lang="en-US" sz="1400" dirty="0"/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C4CD96EB-1306-2D6E-6CAE-B4E0125E2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33452"/>
            <a:ext cx="5434373" cy="72062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C73FE3E6-B5C3-86AD-186C-268CDADB8BA5}"/>
              </a:ext>
            </a:extLst>
          </p:cNvPr>
          <p:cNvSpPr/>
          <p:nvPr/>
        </p:nvSpPr>
        <p:spPr>
          <a:xfrm>
            <a:off x="6276077" y="3825726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Classify</a:t>
            </a:r>
            <a:endParaRPr lang="en-US" sz="17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C204022-6731-B187-E2F0-4E634D82214E}"/>
              </a:ext>
            </a:extLst>
          </p:cNvPr>
          <p:cNvSpPr/>
          <p:nvPr/>
        </p:nvSpPr>
        <p:spPr>
          <a:xfrm>
            <a:off x="6276077" y="421019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ICH E6(R2) Major / Minor / Administrative severity</a:t>
            </a:r>
            <a:endParaRPr lang="en-US" sz="1400" dirty="0"/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B5D03C8F-DB08-CAA0-1B49-71C80C280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27" y="4671764"/>
            <a:ext cx="5434373" cy="720626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8A6B2A45-7852-AB2D-918D-F2E09D257589}"/>
              </a:ext>
            </a:extLst>
          </p:cNvPr>
          <p:cNvSpPr/>
          <p:nvPr/>
        </p:nvSpPr>
        <p:spPr>
          <a:xfrm>
            <a:off x="841704" y="556403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Score</a:t>
            </a:r>
            <a:endParaRPr lang="en-US" sz="17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9835028-3AB2-1998-BF7C-9B2A04824FCA}"/>
              </a:ext>
            </a:extLst>
          </p:cNvPr>
          <p:cNvSpPr/>
          <p:nvPr/>
        </p:nvSpPr>
        <p:spPr>
          <a:xfrm>
            <a:off x="841704" y="5948511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7-factor transparent site risk score (0–100)</a:t>
            </a:r>
            <a:endParaRPr lang="en-US" sz="1400" dirty="0"/>
          </a:p>
        </p:txBody>
      </p:sp>
      <p:pic>
        <p:nvPicPr>
          <p:cNvPr id="16" name="Image 3">
            <a:extLst>
              <a:ext uri="{FF2B5EF4-FFF2-40B4-BE49-F238E27FC236}">
                <a16:creationId xmlns:a16="http://schemas.microsoft.com/office/drawing/2014/main" id="{2CA92405-58B6-CB3E-C5A7-89DA906E9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671764"/>
            <a:ext cx="5434373" cy="720626"/>
          </a:xfrm>
          <a:prstGeom prst="rect">
            <a:avLst/>
          </a:prstGeom>
        </p:spPr>
      </p:pic>
      <p:sp>
        <p:nvSpPr>
          <p:cNvPr id="17" name="Text 11">
            <a:extLst>
              <a:ext uri="{FF2B5EF4-FFF2-40B4-BE49-F238E27FC236}">
                <a16:creationId xmlns:a16="http://schemas.microsoft.com/office/drawing/2014/main" id="{2E572C62-1890-306C-C07A-D1A2EBB2E2DE}"/>
              </a:ext>
            </a:extLst>
          </p:cNvPr>
          <p:cNvSpPr/>
          <p:nvPr/>
        </p:nvSpPr>
        <p:spPr>
          <a:xfrm>
            <a:off x="6276077" y="5564039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Report</a:t>
            </a:r>
            <a:endParaRPr lang="en-US" sz="17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930DE4D-4F6C-1A67-F533-42D1CF03609E}"/>
              </a:ext>
            </a:extLst>
          </p:cNvPr>
          <p:cNvSpPr/>
          <p:nvPr/>
        </p:nvSpPr>
        <p:spPr>
          <a:xfrm>
            <a:off x="6276077" y="5948511"/>
            <a:ext cx="507421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Automated CAPA generation with clinical mitigations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6704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6FCC-8AF2-D782-0CCC-85F395FC3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A720E0-4A27-849D-2E78-652126552F81}"/>
              </a:ext>
            </a:extLst>
          </p:cNvPr>
          <p:cNvSpPr/>
          <p:nvPr/>
        </p:nvSpPr>
        <p:spPr>
          <a:xfrm>
            <a:off x="661627" y="54317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Our Solution: ClinGuard AI</a:t>
            </a:r>
            <a:endParaRPr lang="en-US" sz="3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662CB0-D759-63BB-4E6B-61A1936AD135}"/>
              </a:ext>
            </a:extLst>
          </p:cNvPr>
          <p:cNvSpPr/>
          <p:nvPr/>
        </p:nvSpPr>
        <p:spPr>
          <a:xfrm>
            <a:off x="661627" y="1429098"/>
            <a:ext cx="1086874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autonomous compliance and Risk-Based Monitoring platform — with a strict, auditable boundary between deterministic logic and generative AI.</a:t>
            </a:r>
            <a:endParaRPr lang="en-US" sz="13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86A0B0C-8E26-52F7-1224-3CB63BEFB94F}"/>
              </a:ext>
            </a:extLst>
          </p:cNvPr>
          <p:cNvSpPr/>
          <p:nvPr/>
        </p:nvSpPr>
        <p:spPr>
          <a:xfrm>
            <a:off x="661627" y="2165202"/>
            <a:ext cx="3512157" cy="2267545"/>
          </a:xfrm>
          <a:prstGeom prst="roundRect">
            <a:avLst>
              <a:gd name="adj" fmla="val 328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C3B6493-AA91-DA95-0A1C-577134EE3D42}"/>
              </a:ext>
            </a:extLst>
          </p:cNvPr>
          <p:cNvSpPr/>
          <p:nvPr/>
        </p:nvSpPr>
        <p:spPr>
          <a:xfrm>
            <a:off x="845177" y="2348756"/>
            <a:ext cx="531601" cy="531614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>
            <a:extLst>
              <a:ext uri="{FF2B5EF4-FFF2-40B4-BE49-F238E27FC236}">
                <a16:creationId xmlns:a16="http://schemas.microsoft.com/office/drawing/2014/main" id="{197160B6-B8F6-BFB1-E880-E636B019D3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1323" y="2494905"/>
            <a:ext cx="239210" cy="23921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19B1C729-7522-978E-BBCC-FBAD53D98DE2}"/>
              </a:ext>
            </a:extLst>
          </p:cNvPr>
          <p:cNvSpPr/>
          <p:nvPr/>
        </p:nvSpPr>
        <p:spPr>
          <a:xfrm>
            <a:off x="845177" y="3046463"/>
            <a:ext cx="3145056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Deterministic Deviation Detection</a:t>
            </a:r>
            <a:endParaRPr lang="en-US" sz="17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4CD703-2B45-9E07-C50B-D7F7C82FD7F0}"/>
              </a:ext>
            </a:extLst>
          </p:cNvPr>
          <p:cNvSpPr/>
          <p:nvPr/>
        </p:nvSpPr>
        <p:spPr>
          <a:xfrm>
            <a:off x="845177" y="3699917"/>
            <a:ext cx="314505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Rule-based evaluation with full evidence trails</a:t>
            </a:r>
            <a:endParaRPr lang="en-US" sz="13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0F188E0-CA4E-CF10-96A5-5D08439101AC}"/>
              </a:ext>
            </a:extLst>
          </p:cNvPr>
          <p:cNvSpPr/>
          <p:nvPr/>
        </p:nvSpPr>
        <p:spPr>
          <a:xfrm>
            <a:off x="4339872" y="2165202"/>
            <a:ext cx="3512157" cy="2267545"/>
          </a:xfrm>
          <a:prstGeom prst="roundRect">
            <a:avLst>
              <a:gd name="adj" fmla="val 328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18A7581-943D-B58A-521A-65921B1CFEB7}"/>
              </a:ext>
            </a:extLst>
          </p:cNvPr>
          <p:cNvSpPr/>
          <p:nvPr/>
        </p:nvSpPr>
        <p:spPr>
          <a:xfrm>
            <a:off x="4523422" y="2348756"/>
            <a:ext cx="531601" cy="531614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760E9846-3319-371D-B592-413406A76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9567" y="2494905"/>
            <a:ext cx="239210" cy="239216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1EDC81DD-3EB1-0AF2-9516-51921B4D55B9}"/>
              </a:ext>
            </a:extLst>
          </p:cNvPr>
          <p:cNvSpPr/>
          <p:nvPr/>
        </p:nvSpPr>
        <p:spPr>
          <a:xfrm>
            <a:off x="4523422" y="3046463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Hybrid Severity Classification</a:t>
            </a:r>
            <a:endParaRPr lang="en-US" sz="17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E7E414E-FB61-B505-6592-2D1856714EDE}"/>
              </a:ext>
            </a:extLst>
          </p:cNvPr>
          <p:cNvSpPr/>
          <p:nvPr/>
        </p:nvSpPr>
        <p:spPr>
          <a:xfrm>
            <a:off x="4523422" y="3422998"/>
            <a:ext cx="314505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ICH E6(R2) rules + AI rationale for edge cases</a:t>
            </a:r>
            <a:endParaRPr lang="en-US" sz="13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4C04078-E8BF-91A0-70C0-056A782071A2}"/>
              </a:ext>
            </a:extLst>
          </p:cNvPr>
          <p:cNvSpPr/>
          <p:nvPr/>
        </p:nvSpPr>
        <p:spPr>
          <a:xfrm>
            <a:off x="8018116" y="2165202"/>
            <a:ext cx="3512157" cy="2267545"/>
          </a:xfrm>
          <a:prstGeom prst="roundRect">
            <a:avLst>
              <a:gd name="adj" fmla="val 3282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1935C24D-FE73-9113-EB71-68A6C2497841}"/>
              </a:ext>
            </a:extLst>
          </p:cNvPr>
          <p:cNvSpPr/>
          <p:nvPr/>
        </p:nvSpPr>
        <p:spPr>
          <a:xfrm>
            <a:off x="8201666" y="2348756"/>
            <a:ext cx="531601" cy="531614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>
            <a:extLst>
              <a:ext uri="{FF2B5EF4-FFF2-40B4-BE49-F238E27FC236}">
                <a16:creationId xmlns:a16="http://schemas.microsoft.com/office/drawing/2014/main" id="{117974D6-57C7-6ED6-5C54-1E1D220B4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7812" y="2494905"/>
            <a:ext cx="239210" cy="239216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89975BAD-24FE-172E-7B21-19B29C2B11FA}"/>
              </a:ext>
            </a:extLst>
          </p:cNvPr>
          <p:cNvSpPr/>
          <p:nvPr/>
        </p:nvSpPr>
        <p:spPr>
          <a:xfrm>
            <a:off x="8201666" y="3046463"/>
            <a:ext cx="314505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7-Factor Site Risk Scoring</a:t>
            </a:r>
            <a:endParaRPr lang="en-US" sz="17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A5DFB8E-3D5C-A2AA-EBF0-EB85855A1404}"/>
              </a:ext>
            </a:extLst>
          </p:cNvPr>
          <p:cNvSpPr/>
          <p:nvPr/>
        </p:nvSpPr>
        <p:spPr>
          <a:xfrm>
            <a:off x="8201666" y="3422998"/>
            <a:ext cx="314505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Transparent 0–100 composite score</a:t>
            </a:r>
            <a:endParaRPr lang="en-US" sz="13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9FF483DF-4067-AA03-852A-1C5AA08DB4CE}"/>
              </a:ext>
            </a:extLst>
          </p:cNvPr>
          <p:cNvSpPr/>
          <p:nvPr/>
        </p:nvSpPr>
        <p:spPr>
          <a:xfrm>
            <a:off x="661627" y="4598839"/>
            <a:ext cx="5351229" cy="1715988"/>
          </a:xfrm>
          <a:prstGeom prst="roundRect">
            <a:avLst>
              <a:gd name="adj" fmla="val 433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1EA5284B-D324-E58D-A1B7-51FF927B2B44}"/>
              </a:ext>
            </a:extLst>
          </p:cNvPr>
          <p:cNvSpPr/>
          <p:nvPr/>
        </p:nvSpPr>
        <p:spPr>
          <a:xfrm>
            <a:off x="845177" y="4782394"/>
            <a:ext cx="531601" cy="531614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>
            <a:extLst>
              <a:ext uri="{FF2B5EF4-FFF2-40B4-BE49-F238E27FC236}">
                <a16:creationId xmlns:a16="http://schemas.microsoft.com/office/drawing/2014/main" id="{46F8622B-41BA-3E00-C059-18C695CC8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1323" y="4928543"/>
            <a:ext cx="239210" cy="239216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29E62448-7004-0CE5-A3AD-F8EEC4DF15E7}"/>
              </a:ext>
            </a:extLst>
          </p:cNvPr>
          <p:cNvSpPr/>
          <p:nvPr/>
        </p:nvSpPr>
        <p:spPr>
          <a:xfrm>
            <a:off x="845177" y="5480100"/>
            <a:ext cx="498412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Automated CAPA Generation</a:t>
            </a:r>
            <a:endParaRPr lang="en-US" sz="17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7C73644F-99F6-BFEE-11F1-5B581E165BF1}"/>
              </a:ext>
            </a:extLst>
          </p:cNvPr>
          <p:cNvSpPr/>
          <p:nvPr/>
        </p:nvSpPr>
        <p:spPr>
          <a:xfrm>
            <a:off x="845177" y="5856635"/>
            <a:ext cx="498412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Clustered deviations → signed PDF reports</a:t>
            </a:r>
            <a:endParaRPr lang="en-US" sz="13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8AB872B7-8834-ED2D-AD63-528EF7C2864E}"/>
              </a:ext>
            </a:extLst>
          </p:cNvPr>
          <p:cNvSpPr/>
          <p:nvPr/>
        </p:nvSpPr>
        <p:spPr>
          <a:xfrm>
            <a:off x="6178944" y="4598839"/>
            <a:ext cx="5351329" cy="1715988"/>
          </a:xfrm>
          <a:prstGeom prst="roundRect">
            <a:avLst>
              <a:gd name="adj" fmla="val 4337"/>
            </a:avLst>
          </a:prstGeom>
          <a:solidFill>
            <a:srgbClr val="E9E6FA"/>
          </a:solidFill>
          <a:ln w="63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31EA580D-00FD-087D-B1ED-A8A295C5E849}"/>
              </a:ext>
            </a:extLst>
          </p:cNvPr>
          <p:cNvSpPr/>
          <p:nvPr/>
        </p:nvSpPr>
        <p:spPr>
          <a:xfrm>
            <a:off x="6362494" y="4782394"/>
            <a:ext cx="531601" cy="531614"/>
          </a:xfrm>
          <a:prstGeom prst="ellipse">
            <a:avLst/>
          </a:prstGeom>
          <a:solidFill>
            <a:srgbClr val="5E4CE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>
            <a:extLst>
              <a:ext uri="{FF2B5EF4-FFF2-40B4-BE49-F238E27FC236}">
                <a16:creationId xmlns:a16="http://schemas.microsoft.com/office/drawing/2014/main" id="{48841B66-E471-102C-7AC0-87192F6A74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8640" y="4928543"/>
            <a:ext cx="239210" cy="239216"/>
          </a:xfrm>
          <a:prstGeom prst="rect">
            <a:avLst/>
          </a:prstGeom>
        </p:spPr>
      </p:pic>
      <p:sp>
        <p:nvSpPr>
          <p:cNvPr id="27" name="Text 20">
            <a:extLst>
              <a:ext uri="{FF2B5EF4-FFF2-40B4-BE49-F238E27FC236}">
                <a16:creationId xmlns:a16="http://schemas.microsoft.com/office/drawing/2014/main" id="{56E592EF-4BA8-AB2C-3380-61C03A507D62}"/>
              </a:ext>
            </a:extLst>
          </p:cNvPr>
          <p:cNvSpPr/>
          <p:nvPr/>
        </p:nvSpPr>
        <p:spPr>
          <a:xfrm>
            <a:off x="6362494" y="5480100"/>
            <a:ext cx="4984228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MCP Server</a:t>
            </a:r>
            <a:endParaRPr lang="en-US" sz="170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8525CB2E-AA18-1D82-C335-83CCDC112F28}"/>
              </a:ext>
            </a:extLst>
          </p:cNvPr>
          <p:cNvSpPr/>
          <p:nvPr/>
        </p:nvSpPr>
        <p:spPr>
          <a:xfrm>
            <a:off x="6362494" y="5856635"/>
            <a:ext cx="4984228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 tools for zero-hallucination AI querying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50047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81EA7-CE2C-0BEF-8710-5F6D8FFB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E6CC66-0227-A105-62AE-4FD39A6D612E}"/>
              </a:ext>
            </a:extLst>
          </p:cNvPr>
          <p:cNvSpPr/>
          <p:nvPr/>
        </p:nvSpPr>
        <p:spPr>
          <a:xfrm>
            <a:off x="356835" y="467866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Architecture Philosophy: Zero Hallucination Compliance Core</a:t>
            </a:r>
            <a:endParaRPr lang="en-US" sz="1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614BF1-DECE-BC1D-235F-E346CA0825E8}"/>
              </a:ext>
            </a:extLst>
          </p:cNvPr>
          <p:cNvSpPr/>
          <p:nvPr/>
        </p:nvSpPr>
        <p:spPr>
          <a:xfrm>
            <a:off x="356835" y="85759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ClinGuard AI enforces a strict two-lane separation: the deterministic engine owns all compliance-critical facts, while generative AI is confined to drafting clinical language — never deciding outcomes.</a:t>
            </a:r>
            <a:endParaRPr lang="en-US" sz="7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7450366C-9C50-5618-D41A-7E750381A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978" y="1024086"/>
            <a:ext cx="9436459" cy="519955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E811FAB-3CEB-AED2-29F3-C8DE89B83537}"/>
              </a:ext>
            </a:extLst>
          </p:cNvPr>
          <p:cNvSpPr/>
          <p:nvPr/>
        </p:nvSpPr>
        <p:spPr>
          <a:xfrm>
            <a:off x="1303288" y="1749508"/>
            <a:ext cx="1782438" cy="611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Deterministic Core</a:t>
            </a:r>
            <a:endParaRPr lang="en-US" sz="19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4C485D0-64D2-CF49-6BEC-5BCF0CC9817E}"/>
              </a:ext>
            </a:extLst>
          </p:cNvPr>
          <p:cNvSpPr/>
          <p:nvPr/>
        </p:nvSpPr>
        <p:spPr>
          <a:xfrm>
            <a:off x="1303288" y="2447828"/>
            <a:ext cx="1782438" cy="1283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Deviation detection, severity classification, site risk scoring, evidence trails, CAPA logic. 107 tests passing.</a:t>
            </a:r>
            <a:endParaRPr lang="en-US" sz="15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C290C65-6327-1986-44EF-94EF601C2D6D}"/>
              </a:ext>
            </a:extLst>
          </p:cNvPr>
          <p:cNvSpPr/>
          <p:nvPr/>
        </p:nvSpPr>
        <p:spPr>
          <a:xfrm>
            <a:off x="8487383" y="3271139"/>
            <a:ext cx="1782437" cy="611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Generative Layer</a:t>
            </a:r>
            <a:endParaRPr lang="en-US" sz="19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26D873B-A493-5FB4-7764-DA2AA2A7DCBE}"/>
              </a:ext>
            </a:extLst>
          </p:cNvPr>
          <p:cNvSpPr/>
          <p:nvPr/>
        </p:nvSpPr>
        <p:spPr>
          <a:xfrm>
            <a:off x="8487383" y="3969459"/>
            <a:ext cx="1782437" cy="91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Clinical rationale drafting and narrative language only — no factual decisions.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5AA95F2-D727-04B6-7C51-0B88AC80ADA4}"/>
              </a:ext>
            </a:extLst>
          </p:cNvPr>
          <p:cNvSpPr/>
          <p:nvPr/>
        </p:nvSpPr>
        <p:spPr>
          <a:xfrm>
            <a:off x="356835" y="627672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boundary ensures every compliance-critical number, score, and flag is reproducible, auditable, and traceable — with zero generative hallucination on regulatory decisions.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59152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3E9E4-2711-A6C3-67F8-4724D1FA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BB1927-B08E-6593-1CFD-7187F5BD5DE2}"/>
              </a:ext>
            </a:extLst>
          </p:cNvPr>
          <p:cNvSpPr/>
          <p:nvPr/>
        </p:nvSpPr>
        <p:spPr>
          <a:xfrm>
            <a:off x="658502" y="641697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 Deep-Dive 1: Deviation Detection Engine</a:t>
            </a:r>
            <a:endParaRPr lang="en-US" sz="30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4A939573-9942-400F-528D-54F3A7D98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02" y="1868140"/>
            <a:ext cx="6933530" cy="392906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303BEB1-7678-3E1E-6612-312CAA8224B2}"/>
              </a:ext>
            </a:extLst>
          </p:cNvPr>
          <p:cNvSpPr/>
          <p:nvPr/>
        </p:nvSpPr>
        <p:spPr>
          <a:xfrm>
            <a:off x="7973023" y="1433463"/>
            <a:ext cx="3560475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Rule-Based Evaluation Across 5 Domains</a:t>
            </a:r>
            <a:endParaRPr lang="en-US" sz="15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603EEEF-2A8D-9C74-AA77-436C4546FE82}"/>
              </a:ext>
            </a:extLst>
          </p:cNvPr>
          <p:cNvSpPr/>
          <p:nvPr/>
        </p:nvSpPr>
        <p:spPr>
          <a:xfrm>
            <a:off x="7973023" y="2038002"/>
            <a:ext cx="3560475" cy="2846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Visit windows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detects out-of-schedule visits against protocol-defined intervals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Weight-adjusted dosing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flags dose discrepancies outside ±10% thresholds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Banned CYP3A4 inhibitors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cross-references co-medication lists against exclusion criteria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Eligibility &amp; lab criteria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validates inclusion/exclusion parameters per protocol spec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Missing signatures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identifies unsigned CRFs and consent forms</a:t>
            </a:r>
            <a:endParaRPr lang="en-US" sz="12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1AFD5A0-5226-89CA-5711-990E7D832C94}"/>
              </a:ext>
            </a:extLst>
          </p:cNvPr>
          <p:cNvSpPr/>
          <p:nvPr/>
        </p:nvSpPr>
        <p:spPr>
          <a:xfrm>
            <a:off x="7973023" y="5024685"/>
            <a:ext cx="3560475" cy="1191617"/>
          </a:xfrm>
          <a:prstGeom prst="roundRect">
            <a:avLst>
              <a:gd name="adj" fmla="val 5413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5DE56D3D-4B44-C7BE-A5BF-FBFFBF739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510" y="5218460"/>
            <a:ext cx="191884" cy="153491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8EC25133-3268-8372-71B4-588791CC4832}"/>
              </a:ext>
            </a:extLst>
          </p:cNvPr>
          <p:cNvSpPr/>
          <p:nvPr/>
        </p:nvSpPr>
        <p:spPr>
          <a:xfrm>
            <a:off x="8471882" y="5175200"/>
            <a:ext cx="2908128" cy="890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flagged deviation includes a full, timestamped evidence trail — field-level before/after values, rule ID, and protocol clause reference.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32855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EF81D-2726-172A-6973-A79BC8EE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FFA9DE-E6B2-5622-8B37-606E88638083}"/>
              </a:ext>
            </a:extLst>
          </p:cNvPr>
          <p:cNvSpPr/>
          <p:nvPr/>
        </p:nvSpPr>
        <p:spPr>
          <a:xfrm>
            <a:off x="658453" y="552995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 Deep-Dive 2: Hybrid Severity Classification</a:t>
            </a:r>
            <a:endParaRPr lang="en-US" sz="19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EF23E02D-187B-A680-AB51-2341DEFD3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53" y="989359"/>
            <a:ext cx="5315512" cy="531564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E247420-FCDF-5BEA-E89C-0048C03586DB}"/>
              </a:ext>
            </a:extLst>
          </p:cNvPr>
          <p:cNvSpPr/>
          <p:nvPr/>
        </p:nvSpPr>
        <p:spPr>
          <a:xfrm>
            <a:off x="6218036" y="3068290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Deterministic First. Generative Only When Needed.</a:t>
            </a:r>
            <a:endParaRPr lang="en-US" sz="9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352627E-A93F-1404-65F0-84F3E12D60AF}"/>
              </a:ext>
            </a:extLst>
          </p:cNvPr>
          <p:cNvSpPr/>
          <p:nvPr/>
        </p:nvSpPr>
        <p:spPr>
          <a:xfrm>
            <a:off x="6218036" y="3270795"/>
            <a:ext cx="5315512" cy="517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ICH E6(R2) rule tables handle the majority of classifications automatically — Major, Minor, or Administrative — with zero ambiguity.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 edge cases where protocol language is ambiguous, </a:t>
            </a: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IBM watsonx.ai Granite-13b-instruct-v2</a:t>
            </a: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drafts clinical rationale, always citing </a:t>
            </a:r>
            <a:r>
              <a:rPr lang="en-US" sz="7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ICH E6(R2) Section 5.20</a:t>
            </a:r>
            <a:r>
              <a:rPr lang="en-US" sz="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7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896FEB9-FD2F-27DC-0016-3651F376DC31}"/>
              </a:ext>
            </a:extLst>
          </p:cNvPr>
          <p:cNvSpPr/>
          <p:nvPr/>
        </p:nvSpPr>
        <p:spPr>
          <a:xfrm>
            <a:off x="6218036" y="3844676"/>
            <a:ext cx="5315512" cy="375047"/>
          </a:xfrm>
          <a:prstGeom prst="roundRect">
            <a:avLst>
              <a:gd name="adj" fmla="val 1091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00C86930-F377-A72B-B4C4-B1B2AF37E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467" y="3922761"/>
            <a:ext cx="121738" cy="97433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B92F3C6B-9028-2A3B-ABC9-06F33D518AE6}"/>
              </a:ext>
            </a:extLst>
          </p:cNvPr>
          <p:cNvSpPr/>
          <p:nvPr/>
        </p:nvSpPr>
        <p:spPr>
          <a:xfrm>
            <a:off x="6534636" y="3914129"/>
            <a:ext cx="490148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AI layer never overrides deterministic classification — it only augments narrative justification for human reviewer sign-off.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11450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BA38-1B5F-7633-4A8D-7F9E43A03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B8F81F-8653-1576-A6AB-6D6F376A2500}"/>
              </a:ext>
            </a:extLst>
          </p:cNvPr>
          <p:cNvSpPr/>
          <p:nvPr/>
        </p:nvSpPr>
        <p:spPr>
          <a:xfrm>
            <a:off x="658453" y="9106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Feature Deep-Dive 3: 7-Factor Site Risk Scoring</a:t>
            </a:r>
            <a:endParaRPr lang="en-US" sz="37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6571BE94-9E48-E2CE-5310-86621634E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53" y="1997372"/>
            <a:ext cx="5203794" cy="374580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AD7ED81-3042-E21D-9098-AAEC107B2B15}"/>
              </a:ext>
            </a:extLst>
          </p:cNvPr>
          <p:cNvSpPr/>
          <p:nvPr/>
        </p:nvSpPr>
        <p:spPr>
          <a:xfrm>
            <a:off x="6329754" y="1973758"/>
            <a:ext cx="52037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Fully Transparent. Fully Auditable. Not a Black Box.</a:t>
            </a:r>
            <a:endParaRPr lang="en-US" sz="1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25DECF1-F429-5C9C-A6C9-7ACEC3EA2C07}"/>
              </a:ext>
            </a:extLst>
          </p:cNvPr>
          <p:cNvSpPr/>
          <p:nvPr/>
        </p:nvSpPr>
        <p:spPr>
          <a:xfrm>
            <a:off x="6329754" y="275332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site receives a composite risk score from </a:t>
            </a: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0 to 100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computed from 7 weighted factors. Risk managers can drill into any factor's contribution.</a:t>
            </a:r>
            <a:endParaRPr lang="en-US" sz="14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A5573C7-CA69-CB42-506D-551F743165A1}"/>
              </a:ext>
            </a:extLst>
          </p:cNvPr>
          <p:cNvSpPr/>
          <p:nvPr/>
        </p:nvSpPr>
        <p:spPr>
          <a:xfrm>
            <a:off x="6329754" y="3830637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30%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Major Deviation Rate (primary driver)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15%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Query Resolution Time &amp; Deviation Trend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40%</a:t>
            </a: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Staff Turnover, Enrollment, Monitoring, Minor Gaps</a:t>
            </a:r>
            <a:endParaRPr lang="en-US" sz="14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66A5A3A-6B56-C056-891C-23ACFB93AD51}"/>
              </a:ext>
            </a:extLst>
          </p:cNvPr>
          <p:cNvSpPr/>
          <p:nvPr/>
        </p:nvSpPr>
        <p:spPr>
          <a:xfrm>
            <a:off x="6329754" y="534253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Scores update in real-time as new data flows in — enabling proactive site intervention before FDA audit.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812019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DBB5C-4AAE-41B6-FC06-2C3F4982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017143-5715-2C8D-B582-E76CCE473830}"/>
              </a:ext>
            </a:extLst>
          </p:cNvPr>
          <p:cNvSpPr/>
          <p:nvPr/>
        </p:nvSpPr>
        <p:spPr>
          <a:xfrm>
            <a:off x="658502" y="64556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Automated CAPA Reports + MCP Assistant</a:t>
            </a:r>
            <a:endParaRPr lang="en-US" sz="2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AAFC87-DD9E-AD30-3EC9-B0CFEC37EA9F}"/>
              </a:ext>
            </a:extLst>
          </p:cNvPr>
          <p:cNvSpPr/>
          <p:nvPr/>
        </p:nvSpPr>
        <p:spPr>
          <a:xfrm>
            <a:off x="658502" y="2334369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CAPA Generation Engine</a:t>
            </a:r>
            <a:endParaRPr lang="en-US" sz="14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61FAE7-6107-07F4-245A-6CD00C512246}"/>
              </a:ext>
            </a:extLst>
          </p:cNvPr>
          <p:cNvSpPr/>
          <p:nvPr/>
        </p:nvSpPr>
        <p:spPr>
          <a:xfrm>
            <a:off x="658502" y="2689671"/>
            <a:ext cx="3565138" cy="872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Clusters repeat deviations within </a:t>
            </a:r>
            <a:r>
              <a:rPr lang="en-US" sz="11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30-day windows</a:t>
            </a: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into structured Corrective and Preventive Action plans. Exports to </a:t>
            </a:r>
            <a:r>
              <a:rPr lang="en-US" sz="11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Markdown</a:t>
            </a: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r>
              <a:rPr lang="en-US" sz="115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signed PDF</a:t>
            </a: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via </a:t>
            </a:r>
            <a:r>
              <a:rPr lang="en-US" sz="11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fpdf2</a:t>
            </a: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48F4777-3F08-8C2F-C01B-FCB3E20E7ABF}"/>
              </a:ext>
            </a:extLst>
          </p:cNvPr>
          <p:cNvSpPr/>
          <p:nvPr/>
        </p:nvSpPr>
        <p:spPr>
          <a:xfrm>
            <a:off x="658502" y="3681958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Model Context Protocol (MCP) Server</a:t>
            </a:r>
            <a:endParaRPr lang="en-US" sz="14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0EF7CE-52F9-02D5-0D43-6271CAECE238}"/>
              </a:ext>
            </a:extLst>
          </p:cNvPr>
          <p:cNvSpPr/>
          <p:nvPr/>
        </p:nvSpPr>
        <p:spPr>
          <a:xfrm>
            <a:off x="658502" y="4037260"/>
            <a:ext cx="3565138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Exposes 4 JSON-RPC tools for zero-hallucination AI assistant integration:</a:t>
            </a:r>
            <a:endParaRPr lang="en-US" sz="1150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06E45FD6-0B9B-08F3-AA53-23E9D687E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487" y="1431081"/>
            <a:ext cx="6936011" cy="3930452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16AEFEA6-74C1-1073-7563-A9E08538CC0E}"/>
              </a:ext>
            </a:extLst>
          </p:cNvPr>
          <p:cNvSpPr/>
          <p:nvPr/>
        </p:nvSpPr>
        <p:spPr>
          <a:xfrm>
            <a:off x="658502" y="5631408"/>
            <a:ext cx="2627148" cy="581025"/>
          </a:xfrm>
          <a:prstGeom prst="roundRect">
            <a:avLst>
              <a:gd name="adj" fmla="val 10888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40F57DC-1B95-FFDF-5E2F-CCD0C94EC51B}"/>
              </a:ext>
            </a:extLst>
          </p:cNvPr>
          <p:cNvSpPr/>
          <p:nvPr/>
        </p:nvSpPr>
        <p:spPr>
          <a:xfrm>
            <a:off x="828162" y="5801072"/>
            <a:ext cx="2287828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run_deviation_detection</a:t>
            </a:r>
            <a:endParaRPr lang="en-US" sz="14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D0A1CC1-13D5-11FB-8256-1A8E950690E9}"/>
              </a:ext>
            </a:extLst>
          </p:cNvPr>
          <p:cNvSpPr/>
          <p:nvPr/>
        </p:nvSpPr>
        <p:spPr>
          <a:xfrm>
            <a:off x="3405602" y="5631408"/>
            <a:ext cx="2627247" cy="581025"/>
          </a:xfrm>
          <a:prstGeom prst="roundRect">
            <a:avLst>
              <a:gd name="adj" fmla="val 10888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750E58E-72C5-F3F7-8B01-EEB7D60D669F}"/>
              </a:ext>
            </a:extLst>
          </p:cNvPr>
          <p:cNvSpPr/>
          <p:nvPr/>
        </p:nvSpPr>
        <p:spPr>
          <a:xfrm>
            <a:off x="3575262" y="5801072"/>
            <a:ext cx="228792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get_site_risk_scores</a:t>
            </a:r>
            <a:endParaRPr lang="en-US" sz="14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6B3902C0-191B-0774-6337-D634BF8FD1DF}"/>
              </a:ext>
            </a:extLst>
          </p:cNvPr>
          <p:cNvSpPr/>
          <p:nvPr/>
        </p:nvSpPr>
        <p:spPr>
          <a:xfrm>
            <a:off x="6152801" y="5631408"/>
            <a:ext cx="2627247" cy="581025"/>
          </a:xfrm>
          <a:prstGeom prst="roundRect">
            <a:avLst>
              <a:gd name="adj" fmla="val 10888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2ACFC66-EE86-5A93-D566-670B3FF6437E}"/>
              </a:ext>
            </a:extLst>
          </p:cNvPr>
          <p:cNvSpPr/>
          <p:nvPr/>
        </p:nvSpPr>
        <p:spPr>
          <a:xfrm>
            <a:off x="6322461" y="5801072"/>
            <a:ext cx="228792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get_deviations</a:t>
            </a:r>
            <a:endParaRPr lang="en-US" sz="14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EA94119-54E3-FE91-2AE1-C00629198764}"/>
              </a:ext>
            </a:extLst>
          </p:cNvPr>
          <p:cNvSpPr/>
          <p:nvPr/>
        </p:nvSpPr>
        <p:spPr>
          <a:xfrm>
            <a:off x="8900000" y="5631408"/>
            <a:ext cx="2627247" cy="581025"/>
          </a:xfrm>
          <a:prstGeom prst="roundRect">
            <a:avLst>
              <a:gd name="adj" fmla="val 10888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2EE8C1B-EAC7-CF4B-BFFD-97AF2D1B33A4}"/>
              </a:ext>
            </a:extLst>
          </p:cNvPr>
          <p:cNvSpPr/>
          <p:nvPr/>
        </p:nvSpPr>
        <p:spPr>
          <a:xfrm>
            <a:off x="9069660" y="5801072"/>
            <a:ext cx="228792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A2742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generate_or_fetch_capa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298294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C296B-E6E5-6DC7-DB51-25602341A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42D7B9-3A11-2F00-4CA4-5A6761C864EE}"/>
              </a:ext>
            </a:extLst>
          </p:cNvPr>
          <p:cNvSpPr/>
          <p:nvPr/>
        </p:nvSpPr>
        <p:spPr>
          <a:xfrm>
            <a:off x="430404" y="57621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 Stack, Demo &amp; What We're Proud Of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9E88D95-5818-FFE5-EF0B-7CD1F858F710}"/>
              </a:ext>
            </a:extLst>
          </p:cNvPr>
          <p:cNvSpPr/>
          <p:nvPr/>
        </p:nvSpPr>
        <p:spPr>
          <a:xfrm>
            <a:off x="430404" y="136797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Technology Stack</a:t>
            </a:r>
            <a:endParaRPr lang="en-US" sz="1500" dirty="0"/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6E0EED0C-FA72-9D61-5F1C-1777CA2F60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404" y="1774974"/>
            <a:ext cx="230281" cy="230287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CD6E77EE-8674-31CB-4727-833DA1CC616E}"/>
              </a:ext>
            </a:extLst>
          </p:cNvPr>
          <p:cNvSpPr/>
          <p:nvPr/>
        </p:nvSpPr>
        <p:spPr>
          <a:xfrm>
            <a:off x="785400" y="1781721"/>
            <a:ext cx="489205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E739A85-5C1B-4C4E-6464-431DF04A37E3}"/>
              </a:ext>
            </a:extLst>
          </p:cNvPr>
          <p:cNvSpPr/>
          <p:nvPr/>
        </p:nvSpPr>
        <p:spPr>
          <a:xfrm>
            <a:off x="785400" y="2146349"/>
            <a:ext cx="489205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3.11+, FastAPI, SQLAlchemy, PostgreSQL/SQLite</a:t>
            </a:r>
            <a:endParaRPr lang="en-US" sz="1200" dirty="0"/>
          </a:p>
        </p:txBody>
      </p:sp>
      <p:pic>
        <p:nvPicPr>
          <p:cNvPr id="7" name="Image 1">
            <a:extLst>
              <a:ext uri="{FF2B5EF4-FFF2-40B4-BE49-F238E27FC236}">
                <a16:creationId xmlns:a16="http://schemas.microsoft.com/office/drawing/2014/main" id="{7D867A5C-1EE5-DF4D-7881-7408FFBC12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404" y="2645321"/>
            <a:ext cx="230281" cy="230287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1397BF8A-07B9-AE06-E662-DF5191886A41}"/>
              </a:ext>
            </a:extLst>
          </p:cNvPr>
          <p:cNvSpPr/>
          <p:nvPr/>
        </p:nvSpPr>
        <p:spPr>
          <a:xfrm>
            <a:off x="785400" y="2652067"/>
            <a:ext cx="489205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69C8F58-5262-3E57-D4A8-0F4D6BBF3E6B}"/>
              </a:ext>
            </a:extLst>
          </p:cNvPr>
          <p:cNvSpPr/>
          <p:nvPr/>
        </p:nvSpPr>
        <p:spPr>
          <a:xfrm>
            <a:off x="785400" y="3016696"/>
            <a:ext cx="489205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React 18, Vite, TailwindCSS, TypeScript 5.0+</a:t>
            </a:r>
            <a:endParaRPr lang="en-US" sz="1200" dirty="0"/>
          </a:p>
        </p:txBody>
      </p:sp>
      <p:pic>
        <p:nvPicPr>
          <p:cNvPr id="10" name="Image 2">
            <a:extLst>
              <a:ext uri="{FF2B5EF4-FFF2-40B4-BE49-F238E27FC236}">
                <a16:creationId xmlns:a16="http://schemas.microsoft.com/office/drawing/2014/main" id="{80D47688-91E4-92F7-304D-CA8F5DCE6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404" y="3515667"/>
            <a:ext cx="230281" cy="230287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1AC46D8B-9E69-0056-6707-5E741D411414}"/>
              </a:ext>
            </a:extLst>
          </p:cNvPr>
          <p:cNvSpPr/>
          <p:nvPr/>
        </p:nvSpPr>
        <p:spPr>
          <a:xfrm>
            <a:off x="785400" y="3522414"/>
            <a:ext cx="489205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AAF4D70-4DC2-DF35-E9F3-08B4FA0EE32B}"/>
              </a:ext>
            </a:extLst>
          </p:cNvPr>
          <p:cNvSpPr/>
          <p:nvPr/>
        </p:nvSpPr>
        <p:spPr>
          <a:xfrm>
            <a:off x="785400" y="3887043"/>
            <a:ext cx="489205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IBM watsonx.ai Granite-13b-instruct-v2</a:t>
            </a:r>
            <a:endParaRPr lang="en-US" sz="1200" dirty="0"/>
          </a:p>
        </p:txBody>
      </p:sp>
      <p:pic>
        <p:nvPicPr>
          <p:cNvPr id="13" name="Image 3">
            <a:extLst>
              <a:ext uri="{FF2B5EF4-FFF2-40B4-BE49-F238E27FC236}">
                <a16:creationId xmlns:a16="http://schemas.microsoft.com/office/drawing/2014/main" id="{628C618B-3AB0-7706-63B1-C465FB0B78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404" y="4386014"/>
            <a:ext cx="230281" cy="230287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C63C9036-0FF8-C656-B3DD-8220F402A1DB}"/>
              </a:ext>
            </a:extLst>
          </p:cNvPr>
          <p:cNvSpPr/>
          <p:nvPr/>
        </p:nvSpPr>
        <p:spPr>
          <a:xfrm>
            <a:off x="785400" y="4392761"/>
            <a:ext cx="489205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A2742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9291D9A-9CCB-B034-0A07-621D65C55706}"/>
              </a:ext>
            </a:extLst>
          </p:cNvPr>
          <p:cNvSpPr/>
          <p:nvPr/>
        </p:nvSpPr>
        <p:spPr>
          <a:xfrm>
            <a:off x="785400" y="4757390"/>
            <a:ext cx="489205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MCP Server, fpdf2, pytest (107/107 tests passing)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B363A1F2-3ACA-B5C5-977F-8EAD5D3527B6}"/>
              </a:ext>
            </a:extLst>
          </p:cNvPr>
          <p:cNvSpPr/>
          <p:nvPr/>
        </p:nvSpPr>
        <p:spPr>
          <a:xfrm>
            <a:off x="6058447" y="136797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89E00FF-47F4-EE54-9851-CBF99D1EB36F}"/>
              </a:ext>
            </a:extLst>
          </p:cNvPr>
          <p:cNvSpPr/>
          <p:nvPr/>
        </p:nvSpPr>
        <p:spPr>
          <a:xfrm>
            <a:off x="6058447" y="1732607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Dashboard walkthrough: Risk Heatmap View, Deviations View, Chat Panel, and CAPA Export Modal.</a:t>
            </a:r>
            <a:endParaRPr lang="en-US" sz="12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9342022A-7E51-8658-ED16-AC8605812849}"/>
              </a:ext>
            </a:extLst>
          </p:cNvPr>
          <p:cNvSpPr/>
          <p:nvPr/>
        </p:nvSpPr>
        <p:spPr>
          <a:xfrm>
            <a:off x="6058447" y="2318196"/>
            <a:ext cx="5247052" cy="530027"/>
          </a:xfrm>
          <a:prstGeom prst="roundRect">
            <a:avLst>
              <a:gd name="adj" fmla="val 12170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C363857-CF14-5B5D-BFEB-3C6220ABFC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1934" y="2511971"/>
            <a:ext cx="191884" cy="153491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36308DD2-A047-D030-F86A-06FFB6E4E2FC}"/>
              </a:ext>
            </a:extLst>
          </p:cNvPr>
          <p:cNvSpPr/>
          <p:nvPr/>
        </p:nvSpPr>
        <p:spPr>
          <a:xfrm>
            <a:off x="6557306" y="2468711"/>
            <a:ext cx="5204290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📱 Scan QR or visit: </a:t>
            </a:r>
            <a:r>
              <a:rPr lang="en-US" sz="1200" b="1" dirty="0">
                <a:solidFill>
                  <a:srgbClr val="000000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[Demo Link Placeholder]</a:t>
            </a:r>
            <a:endParaRPr lang="en-US" sz="12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781DC35-8881-A646-96CF-04CB483F6643}"/>
              </a:ext>
            </a:extLst>
          </p:cNvPr>
          <p:cNvSpPr/>
          <p:nvPr/>
        </p:nvSpPr>
        <p:spPr>
          <a:xfrm>
            <a:off x="6058447" y="3026817"/>
            <a:ext cx="5247052" cy="19050"/>
          </a:xfrm>
          <a:prstGeom prst="roundRect">
            <a:avLst>
              <a:gd name="adj" fmla="val 49999"/>
            </a:avLst>
          </a:prstGeom>
          <a:solidFill>
            <a:srgbClr val="2A2742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22120EDE-71D1-A393-868D-8731C6B0008E}"/>
              </a:ext>
            </a:extLst>
          </p:cNvPr>
          <p:cNvSpPr/>
          <p:nvPr/>
        </p:nvSpPr>
        <p:spPr>
          <a:xfrm>
            <a:off x="6058447" y="3224460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What We're Most Proud Of</a:t>
            </a:r>
            <a:endParaRPr lang="en-US" sz="15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74D3C568-1954-C49E-85D2-E39087748557}"/>
              </a:ext>
            </a:extLst>
          </p:cNvPr>
          <p:cNvSpPr/>
          <p:nvPr/>
        </p:nvSpPr>
        <p:spPr>
          <a:xfrm>
            <a:off x="6058447" y="3589089"/>
            <a:ext cx="5247052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Strict deterministic/generative boundary — </a:t>
            </a: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zero hallucination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on compliance-critical numbers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107/107 pytest cases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passing — full deterministic coverage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621AC579-FBCF-5767-CBD5-3CFAACA15CE4}"/>
              </a:ext>
            </a:extLst>
          </p:cNvPr>
          <p:cNvSpPr/>
          <p:nvPr/>
        </p:nvSpPr>
        <p:spPr>
          <a:xfrm>
            <a:off x="6058447" y="4425404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231971"/>
                </a:solidFill>
                <a:latin typeface="Outfit ExtraBold" pitchFamily="34" charset="0"/>
                <a:ea typeface="Outfit ExtraBold" pitchFamily="34" charset="-122"/>
                <a:cs typeface="Outfit ExtraBold" pitchFamily="34" charset="-120"/>
              </a:rPr>
              <a:t>Known Limitations</a:t>
            </a:r>
            <a:endParaRPr lang="en-US" sz="15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F2D11D5D-852C-B0CB-EAA5-38F6712189C3}"/>
              </a:ext>
            </a:extLst>
          </p:cNvPr>
          <p:cNvSpPr/>
          <p:nvPr/>
        </p:nvSpPr>
        <p:spPr>
          <a:xfrm>
            <a:off x="6058447" y="4790033"/>
            <a:ext cx="5247052" cy="934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Watsonx.ai requires live API credentials (graceful template fallback if absent)</a:t>
            </a:r>
            <a:endParaRPr lang="en-US" sz="1200" dirty="0"/>
          </a:p>
          <a:p>
            <a:pPr marL="243840" indent="-243840" algn="l">
              <a:lnSpc>
                <a:spcPct val="121000"/>
              </a:lnSpc>
              <a:buSzPct val="100000"/>
              <a:buChar char="•"/>
            </a:pP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Currently runs on synthetic Phase II/III data — HL7 FHIR / CDISC ODM integration is the next milestone</a:t>
            </a:r>
            <a:endParaRPr lang="en-US" sz="120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B031DB49-21E7-DBB8-B45D-49F601B12900}"/>
              </a:ext>
            </a:extLst>
          </p:cNvPr>
          <p:cNvSpPr/>
          <p:nvPr/>
        </p:nvSpPr>
        <p:spPr>
          <a:xfrm>
            <a:off x="6058447" y="5836493"/>
            <a:ext cx="5247052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Team AutoGen:</a:t>
            </a:r>
            <a:r>
              <a:rPr lang="en-US" sz="12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Kushal Vaghela (Lead) · Jemeet Shahi · Raj Panchigar · Darsh Boghara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29820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857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Arimo</vt:lpstr>
      <vt:lpstr>Arimo Bold</vt:lpstr>
      <vt:lpstr>Calibri</vt:lpstr>
      <vt:lpstr>Calibri Light</vt:lpstr>
      <vt:lpstr>Consolas</vt:lpstr>
      <vt:lpstr>Outfit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25MSIT187 KUSHAL VAGHELA</dc:creator>
  <cp:lastModifiedBy>25MSIT187 KUSHAL VAGHELA</cp:lastModifiedBy>
  <cp:revision>1</cp:revision>
  <dcterms:created xsi:type="dcterms:W3CDTF">2026-09-15T15:38:39Z</dcterms:created>
  <dcterms:modified xsi:type="dcterms:W3CDTF">2026-09-15T15:43:11Z</dcterms:modified>
</cp:coreProperties>
</file>